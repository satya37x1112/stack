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A0B6A8-1524-4C81-8433-68ADE8F133FE}" v="15" dt="2025-04-29T12:13:03.2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336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19596b3dc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19596b3dc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519596b3dc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519596b3dc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519596b3dc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519596b3dc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19596b3dc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19596b3dc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19596b3dc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19596b3dc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19596b3dc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19596b3dc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19596b3d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19596b3d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19596b3d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519596b3d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519596b3dc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519596b3dc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19596b3dc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19596b3dc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19596b3dc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19596b3dc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19596b3dc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19596b3dc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solidFill>
                  <a:srgbClr val="134F5C"/>
                </a:solidFill>
              </a:rPr>
              <a:t>Stack Using Array</a:t>
            </a:r>
            <a:endParaRPr b="1" u="sng">
              <a:solidFill>
                <a:srgbClr val="134F5C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20450" y="2845000"/>
            <a:ext cx="8520600" cy="16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700">
                <a:solidFill>
                  <a:srgbClr val="4C1130"/>
                </a:solidFill>
              </a:rPr>
              <a:t>by-</a:t>
            </a:r>
            <a:endParaRPr sz="1700">
              <a:solidFill>
                <a:srgbClr val="4C1130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700">
                <a:solidFill>
                  <a:srgbClr val="4C1130"/>
                </a:solidFill>
              </a:rPr>
              <a:t>Anshuman pal </a:t>
            </a:r>
            <a:endParaRPr sz="1700">
              <a:solidFill>
                <a:srgbClr val="4C1130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1700">
                <a:solidFill>
                  <a:srgbClr val="4C1130"/>
                </a:solidFill>
              </a:rPr>
              <a:t>Gyana ranjan sahoo </a:t>
            </a:r>
            <a:endParaRPr sz="1700">
              <a:solidFill>
                <a:srgbClr val="4C1130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700">
                <a:solidFill>
                  <a:srgbClr val="4C1130"/>
                </a:solidFill>
              </a:rPr>
              <a:t>Omm nayak</a:t>
            </a:r>
            <a:endParaRPr sz="1700">
              <a:solidFill>
                <a:srgbClr val="4C113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1700">
                <a:solidFill>
                  <a:srgbClr val="4C1130"/>
                </a:solidFill>
              </a:rPr>
              <a:t>                                                    Satya Sarthak Manohari </a:t>
            </a:r>
            <a:endParaRPr sz="1700">
              <a:solidFill>
                <a:srgbClr val="4C1130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endParaRPr sz="1700">
              <a:solidFill>
                <a:srgbClr val="4C113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778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</a:rPr>
              <a:t>What is Stack?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In programming, a </a:t>
            </a:r>
            <a:r>
              <a:rPr lang="en" sz="1500" b="1">
                <a:solidFill>
                  <a:schemeClr val="dk1"/>
                </a:solidFill>
              </a:rPr>
              <a:t>stack</a:t>
            </a:r>
            <a:r>
              <a:rPr lang="en" sz="1500">
                <a:solidFill>
                  <a:schemeClr val="dk1"/>
                </a:solidFill>
              </a:rPr>
              <a:t> is a data structure that follows the </a:t>
            </a:r>
            <a:r>
              <a:rPr lang="en" sz="1500" b="1">
                <a:solidFill>
                  <a:schemeClr val="dk1"/>
                </a:solidFill>
              </a:rPr>
              <a:t>Last In, First Out (LIFO)</a:t>
            </a:r>
            <a:r>
              <a:rPr lang="en" sz="1500">
                <a:solidFill>
                  <a:schemeClr val="dk1"/>
                </a:solidFill>
              </a:rPr>
              <a:t> principle. This means that the last item added to the stack is the first one to be removed. Think of it like a stack of plates—when you add a new plate, it goes on top, and when you remove one, you take the topmost plate first.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Basic Operations of a Stack: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Push</a:t>
            </a:r>
            <a:r>
              <a:rPr lang="en" sz="1500">
                <a:solidFill>
                  <a:schemeClr val="dk1"/>
                </a:solidFill>
              </a:rPr>
              <a:t>: Adds an element to the top of the stack.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Pop</a:t>
            </a:r>
            <a:r>
              <a:rPr lang="en" sz="1500">
                <a:solidFill>
                  <a:schemeClr val="dk1"/>
                </a:solidFill>
              </a:rPr>
              <a:t>: Removes the top element from the stack.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Peek</a:t>
            </a:r>
            <a:r>
              <a:rPr lang="en" sz="1500">
                <a:solidFill>
                  <a:schemeClr val="dk1"/>
                </a:solidFill>
              </a:rPr>
              <a:t>: Retrieves the top element without removing it.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isEmpty</a:t>
            </a:r>
            <a:r>
              <a:rPr lang="en" sz="1500">
                <a:solidFill>
                  <a:schemeClr val="dk1"/>
                </a:solidFill>
              </a:rPr>
              <a:t>: Checks if the stack is empty.</a:t>
            </a:r>
            <a:endParaRPr sz="1500">
              <a:solidFill>
                <a:schemeClr val="dk1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 b="1">
                <a:solidFill>
                  <a:schemeClr val="dk1"/>
                </a:solidFill>
              </a:rPr>
              <a:t>isFull</a:t>
            </a:r>
            <a:r>
              <a:rPr lang="en" sz="1500">
                <a:solidFill>
                  <a:schemeClr val="dk1"/>
                </a:solidFill>
              </a:rPr>
              <a:t>: Checks if the stack is full.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500" b="1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</a:rPr>
              <a:t>Applications of Stack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chemeClr val="dk1"/>
                </a:solidFill>
              </a:rPr>
              <a:t>Applications of Stacks: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 b="1">
                <a:solidFill>
                  <a:schemeClr val="dk1"/>
                </a:solidFill>
              </a:rPr>
              <a:t>Function Calls</a:t>
            </a:r>
            <a:r>
              <a:rPr lang="en" sz="2100">
                <a:solidFill>
                  <a:schemeClr val="dk1"/>
                </a:solidFill>
              </a:rPr>
              <a:t>: Used in recursion to keep track of function calls.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 b="1">
                <a:solidFill>
                  <a:schemeClr val="dk1"/>
                </a:solidFill>
              </a:rPr>
              <a:t>Undo/Redo</a:t>
            </a:r>
            <a:r>
              <a:rPr lang="en" sz="2100">
                <a:solidFill>
                  <a:schemeClr val="dk1"/>
                </a:solidFill>
              </a:rPr>
              <a:t>: In text editors, stacks help manage undo and redo operations.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 b="1">
                <a:solidFill>
                  <a:schemeClr val="dk1"/>
                </a:solidFill>
              </a:rPr>
              <a:t>Expression Evaluation</a:t>
            </a:r>
            <a:r>
              <a:rPr lang="en" sz="2100">
                <a:solidFill>
                  <a:schemeClr val="dk1"/>
                </a:solidFill>
              </a:rPr>
              <a:t>: Used in parsing mathematical expressions.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 b="1">
                <a:solidFill>
                  <a:schemeClr val="dk1"/>
                </a:solidFill>
              </a:rPr>
              <a:t>Backtracking</a:t>
            </a:r>
            <a:r>
              <a:rPr lang="en" sz="2100">
                <a:solidFill>
                  <a:schemeClr val="dk1"/>
                </a:solidFill>
              </a:rPr>
              <a:t>: Helps in algorithms like maze-solving or navigating decision trees.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1"/>
                </a:solidFill>
              </a:rPr>
              <a:t>What is PUSH Operation?</a:t>
            </a:r>
            <a:endParaRPr b="1">
              <a:solidFill>
                <a:schemeClr val="accent1"/>
              </a:solidFill>
            </a:endParaRPr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The </a:t>
            </a:r>
            <a:r>
              <a:rPr lang="en" sz="1700" b="1">
                <a:solidFill>
                  <a:schemeClr val="dk1"/>
                </a:solidFill>
              </a:rPr>
              <a:t>push operation</a:t>
            </a:r>
            <a:r>
              <a:rPr lang="en" sz="1700">
                <a:solidFill>
                  <a:schemeClr val="dk1"/>
                </a:solidFill>
              </a:rPr>
              <a:t> in a stack is used to add an element to the top of the stack. Since a stack follows the </a:t>
            </a:r>
            <a:r>
              <a:rPr lang="en" sz="1700" b="1">
                <a:solidFill>
                  <a:schemeClr val="dk1"/>
                </a:solidFill>
              </a:rPr>
              <a:t>Last In, First Out (LIFO)</a:t>
            </a:r>
            <a:r>
              <a:rPr lang="en" sz="1700">
                <a:solidFill>
                  <a:schemeClr val="dk1"/>
                </a:solidFill>
              </a:rPr>
              <a:t> principle, the newly added element always goes on top.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Steps of the Push Operation: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 b="1">
                <a:solidFill>
                  <a:schemeClr val="dk1"/>
                </a:solidFill>
              </a:rPr>
              <a:t>Check if the stack is full</a:t>
            </a:r>
            <a:r>
              <a:rPr lang="en" sz="1700">
                <a:solidFill>
                  <a:schemeClr val="dk1"/>
                </a:solidFill>
              </a:rPr>
              <a:t> (in case of a fixed-size stack).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 b="1">
                <a:solidFill>
                  <a:schemeClr val="dk1"/>
                </a:solidFill>
              </a:rPr>
              <a:t>Increase the top pointer</a:t>
            </a:r>
            <a:r>
              <a:rPr lang="en" sz="1700">
                <a:solidFill>
                  <a:schemeClr val="dk1"/>
                </a:solidFill>
              </a:rPr>
              <a:t> to point to the next available position.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 b="1">
                <a:solidFill>
                  <a:schemeClr val="dk1"/>
                </a:solidFill>
              </a:rPr>
              <a:t>Insert the new element</a:t>
            </a:r>
            <a:r>
              <a:rPr lang="en" sz="1700">
                <a:solidFill>
                  <a:schemeClr val="dk1"/>
                </a:solidFill>
              </a:rPr>
              <a:t> at the top position.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 b="1">
                <a:solidFill>
                  <a:schemeClr val="dk1"/>
                </a:solidFill>
              </a:rPr>
              <a:t>Update the top pointer</a:t>
            </a:r>
            <a:r>
              <a:rPr lang="en" sz="1700">
                <a:solidFill>
                  <a:schemeClr val="dk1"/>
                </a:solidFill>
              </a:rPr>
              <a:t> to reflect the new top element.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274E13"/>
                </a:solidFill>
              </a:rPr>
              <a:t>Code for push Operation</a:t>
            </a:r>
            <a:endParaRPr b="1">
              <a:solidFill>
                <a:srgbClr val="274E13"/>
              </a:solidFill>
            </a:endParaRPr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665"/>
              <a:t>void push(){</a:t>
            </a:r>
            <a:endParaRPr sz="466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665"/>
              <a:t>	int n;</a:t>
            </a:r>
            <a:endParaRPr sz="466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665"/>
              <a:t>	if(top == maxsize-1){</a:t>
            </a:r>
            <a:endParaRPr sz="466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665"/>
              <a:t>		printf("stack is overflow");</a:t>
            </a:r>
            <a:endParaRPr sz="466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665"/>
              <a:t>	}else{</a:t>
            </a:r>
            <a:endParaRPr sz="466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665"/>
              <a:t>		printf("Enter an element");</a:t>
            </a:r>
            <a:endParaRPr sz="466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665"/>
              <a:t>		scanf("%d",&amp;n);</a:t>
            </a:r>
            <a:endParaRPr sz="466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665"/>
              <a:t>		top ++ ;</a:t>
            </a:r>
            <a:endParaRPr sz="466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665"/>
              <a:t>		stack[top] = n;</a:t>
            </a:r>
            <a:endParaRPr sz="466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665"/>
              <a:t>}</a:t>
            </a:r>
            <a:endParaRPr sz="466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665"/>
              <a:t>}</a:t>
            </a:r>
            <a:endParaRPr sz="466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endParaRPr sz="586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	}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}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</a:rPr>
              <a:t>What is POP Operation?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lang="en" b="1">
                <a:solidFill>
                  <a:schemeClr val="dk1"/>
                </a:solidFill>
              </a:rPr>
              <a:t>pop operation</a:t>
            </a:r>
            <a:r>
              <a:rPr lang="en">
                <a:solidFill>
                  <a:schemeClr val="dk1"/>
                </a:solidFill>
              </a:rPr>
              <a:t> in a stack is used to remove the topmost element. Since a stack follows the </a:t>
            </a:r>
            <a:r>
              <a:rPr lang="en" b="1">
                <a:solidFill>
                  <a:schemeClr val="dk1"/>
                </a:solidFill>
              </a:rPr>
              <a:t>Last In, First Out (LIFO)</a:t>
            </a:r>
            <a:r>
              <a:rPr lang="en">
                <a:solidFill>
                  <a:schemeClr val="dk1"/>
                </a:solidFill>
              </a:rPr>
              <a:t> principle, the most recently added item is the first one to be removed.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Steps of the Pop Operation: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b="1">
                <a:solidFill>
                  <a:schemeClr val="dk1"/>
                </a:solidFill>
              </a:rPr>
              <a:t>Check if the stack is empty</a:t>
            </a:r>
            <a:r>
              <a:rPr lang="en">
                <a:solidFill>
                  <a:schemeClr val="dk1"/>
                </a:solidFill>
              </a:rPr>
              <a:t> (if there are no elements to remove).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b="1">
                <a:solidFill>
                  <a:schemeClr val="dk1"/>
                </a:solidFill>
              </a:rPr>
              <a:t>Retrieve the top element</a:t>
            </a:r>
            <a:r>
              <a:rPr lang="en">
                <a:solidFill>
                  <a:schemeClr val="dk1"/>
                </a:solidFill>
              </a:rPr>
              <a:t> from the stack.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b="1">
                <a:solidFill>
                  <a:schemeClr val="dk1"/>
                </a:solidFill>
              </a:rPr>
              <a:t>Decrease the top pointer</a:t>
            </a:r>
            <a:r>
              <a:rPr lang="en">
                <a:solidFill>
                  <a:schemeClr val="dk1"/>
                </a:solidFill>
              </a:rPr>
              <a:t> to point to the next available element.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 b="1">
                <a:solidFill>
                  <a:schemeClr val="dk1"/>
                </a:solidFill>
              </a:rPr>
              <a:t>Return the removed element</a:t>
            </a:r>
            <a:r>
              <a:rPr lang="en">
                <a:solidFill>
                  <a:schemeClr val="dk1"/>
                </a:solidFill>
              </a:rPr>
              <a:t> (optional, depending on implementation).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</a:rPr>
              <a:t>Code for POP operation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25"/>
              <a:t>void pop(){</a:t>
            </a:r>
            <a:endParaRPr sz="552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25"/>
              <a:t>	int n;</a:t>
            </a:r>
            <a:endParaRPr sz="552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25"/>
              <a:t>	if(top == -1){</a:t>
            </a:r>
            <a:endParaRPr sz="552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25"/>
              <a:t>		printf("Stack is empty");</a:t>
            </a:r>
            <a:endParaRPr sz="552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25"/>
              <a:t>	}else{</a:t>
            </a:r>
            <a:endParaRPr sz="552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25"/>
              <a:t>		n=top[stack];</a:t>
            </a:r>
            <a:endParaRPr sz="552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25"/>
              <a:t>		top -- ;</a:t>
            </a:r>
            <a:endParaRPr sz="552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25"/>
              <a:t>		printf("\n popped element is",n);</a:t>
            </a:r>
            <a:endParaRPr sz="552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25"/>
              <a:t>	}</a:t>
            </a:r>
            <a:endParaRPr sz="552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5525"/>
              <a:t>}</a:t>
            </a:r>
            <a:endParaRPr sz="5525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>
                <a:solidFill>
                  <a:srgbClr val="0000FF"/>
                </a:solidFill>
              </a:rPr>
              <a:t>OVERFLOW CONDITION IN STACK</a:t>
            </a:r>
            <a:endParaRPr sz="3700" b="1">
              <a:solidFill>
                <a:srgbClr val="0000FF"/>
              </a:solidFill>
            </a:endParaRPr>
          </a:p>
        </p:txBody>
      </p:sp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 b="1">
                <a:solidFill>
                  <a:schemeClr val="dk1"/>
                </a:solidFill>
              </a:rPr>
              <a:t> </a:t>
            </a:r>
            <a:r>
              <a:rPr lang="en" sz="2925" b="1">
                <a:solidFill>
                  <a:schemeClr val="dk1"/>
                </a:solidFill>
              </a:rPr>
              <a:t>Stack Overflow</a:t>
            </a:r>
            <a:endParaRPr sz="2925" b="1">
              <a:solidFill>
                <a:schemeClr val="dk1"/>
              </a:solidFill>
            </a:endParaRPr>
          </a:p>
          <a:p>
            <a:pPr marL="457200" lvl="0" indent="-3447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925" b="1">
                <a:solidFill>
                  <a:schemeClr val="dk1"/>
                </a:solidFill>
              </a:rPr>
              <a:t>Occurs when</a:t>
            </a:r>
            <a:r>
              <a:rPr lang="en" sz="2925">
                <a:solidFill>
                  <a:schemeClr val="dk1"/>
                </a:solidFill>
              </a:rPr>
              <a:t>: You try to push an element onto a stack that is already full.</a:t>
            </a:r>
            <a:endParaRPr sz="2925">
              <a:solidFill>
                <a:schemeClr val="dk1"/>
              </a:solidFill>
            </a:endParaRPr>
          </a:p>
          <a:p>
            <a:pPr marL="457200" lvl="0" indent="-344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925" b="1">
                <a:solidFill>
                  <a:schemeClr val="dk1"/>
                </a:solidFill>
              </a:rPr>
              <a:t>Cause</a:t>
            </a:r>
            <a:r>
              <a:rPr lang="en" sz="2925">
                <a:solidFill>
                  <a:schemeClr val="dk1"/>
                </a:solidFill>
              </a:rPr>
              <a:t>: The stack has a fixed size, and adding more elements exceeds its capacity.</a:t>
            </a:r>
            <a:endParaRPr sz="2925">
              <a:solidFill>
                <a:schemeClr val="dk1"/>
              </a:solidFill>
            </a:endParaRPr>
          </a:p>
          <a:p>
            <a:pPr marL="457200" lvl="0" indent="-344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925" b="1">
                <a:solidFill>
                  <a:schemeClr val="dk1"/>
                </a:solidFill>
              </a:rPr>
              <a:t>Example</a:t>
            </a:r>
            <a:r>
              <a:rPr lang="en" sz="2925">
                <a:solidFill>
                  <a:schemeClr val="dk1"/>
                </a:solidFill>
              </a:rPr>
              <a:t>:</a:t>
            </a:r>
            <a:br>
              <a:rPr lang="en" sz="2925">
                <a:solidFill>
                  <a:schemeClr val="dk1"/>
                </a:solidFill>
              </a:rPr>
            </a:br>
            <a:r>
              <a:rPr lang="en" sz="2925">
                <a:solidFill>
                  <a:schemeClr val="dk1"/>
                </a:solidFill>
              </a:rPr>
              <a:t>if (top == SIZE - 1) { printf("Stack Overflow: Cannot push more elements.\n"); }</a:t>
            </a:r>
            <a:endParaRPr sz="2925">
              <a:solidFill>
                <a:schemeClr val="dk1"/>
              </a:solidFill>
            </a:endParaRPr>
          </a:p>
          <a:p>
            <a:pPr marL="457200" lvl="0" indent="-344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2925" b="1">
                <a:solidFill>
                  <a:schemeClr val="dk1"/>
                </a:solidFill>
              </a:rPr>
              <a:t>Real-world analogy</a:t>
            </a:r>
            <a:r>
              <a:rPr lang="en" sz="2925">
                <a:solidFill>
                  <a:schemeClr val="dk1"/>
                </a:solidFill>
              </a:rPr>
              <a:t>: Imagine stacking books on a shelf that has limited space. If you try to add another book when the shelf is full, it will fall off.</a:t>
            </a:r>
            <a:endParaRPr sz="2925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>
            <a:spLocks noGrp="1"/>
          </p:cNvSpPr>
          <p:nvPr>
            <p:ph type="title"/>
          </p:nvPr>
        </p:nvSpPr>
        <p:spPr>
          <a:xfrm>
            <a:off x="311700" y="4340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rgbClr val="0000FF"/>
                </a:solidFill>
              </a:rPr>
              <a:t>UNDERFLOW CONDITION IN STACK</a:t>
            </a:r>
            <a:endParaRPr sz="3900">
              <a:solidFill>
                <a:srgbClr val="0000FF"/>
              </a:solidFill>
            </a:endParaRPr>
          </a:p>
        </p:txBody>
      </p:sp>
      <p:sp>
        <p:nvSpPr>
          <p:cNvPr id="103" name="Google Shape;103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 </a:t>
            </a:r>
            <a:r>
              <a:rPr lang="en" sz="2100" b="1">
                <a:solidFill>
                  <a:schemeClr val="dk1"/>
                </a:solidFill>
              </a:rPr>
              <a:t>Stack Underflow</a:t>
            </a:r>
            <a:endParaRPr sz="2100" b="1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 b="1">
                <a:solidFill>
                  <a:schemeClr val="dk1"/>
                </a:solidFill>
              </a:rPr>
              <a:t>Occurs when</a:t>
            </a:r>
            <a:r>
              <a:rPr lang="en" sz="2100">
                <a:solidFill>
                  <a:schemeClr val="dk1"/>
                </a:solidFill>
              </a:rPr>
              <a:t>: You try to pop an element from an empty stack.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 b="1">
                <a:solidFill>
                  <a:schemeClr val="dk1"/>
                </a:solidFill>
              </a:rPr>
              <a:t>Cause</a:t>
            </a:r>
            <a:r>
              <a:rPr lang="en" sz="2100">
                <a:solidFill>
                  <a:schemeClr val="dk1"/>
                </a:solidFill>
              </a:rPr>
              <a:t>: There are no elements left to remove.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 b="1">
                <a:solidFill>
                  <a:schemeClr val="dk1"/>
                </a:solidFill>
              </a:rPr>
              <a:t>Example</a:t>
            </a:r>
            <a:r>
              <a:rPr lang="en" sz="2100">
                <a:solidFill>
                  <a:schemeClr val="dk1"/>
                </a:solidFill>
              </a:rPr>
              <a:t>:</a:t>
            </a:r>
            <a:br>
              <a:rPr lang="en" sz="2100">
                <a:solidFill>
                  <a:schemeClr val="dk1"/>
                </a:solidFill>
              </a:rPr>
            </a:br>
            <a:r>
              <a:rPr lang="en" sz="2100">
                <a:solidFill>
                  <a:schemeClr val="dk1"/>
                </a:solidFill>
              </a:rPr>
              <a:t>if (top == -1) { printf("Stack Underflow: No elements to pop.\n"); }</a:t>
            </a:r>
            <a:endParaRPr sz="2100">
              <a:solidFill>
                <a:schemeClr val="dk1"/>
              </a:solidFill>
            </a:endParaRPr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" sz="2100" b="1">
                <a:solidFill>
                  <a:schemeClr val="dk1"/>
                </a:solidFill>
              </a:rPr>
              <a:t>Real-world analogy</a:t>
            </a:r>
            <a:r>
              <a:rPr lang="en" sz="2100">
                <a:solidFill>
                  <a:schemeClr val="dk1"/>
                </a:solidFill>
              </a:rPr>
              <a:t>: Imagine trying to remove a book from an empty shelf—there’s nothing left to take!</a:t>
            </a:r>
            <a:endParaRPr sz="2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>
            <a:spLocks noGrp="1"/>
          </p:cNvSpPr>
          <p:nvPr>
            <p:ph type="title"/>
          </p:nvPr>
        </p:nvSpPr>
        <p:spPr>
          <a:xfrm>
            <a:off x="311700" y="4669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i="1"/>
              <a:t>LIVE DEMO</a:t>
            </a:r>
            <a:endParaRPr b="1" i="1"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500" b="1">
                <a:solidFill>
                  <a:srgbClr val="351C75"/>
                </a:solidFill>
              </a:rPr>
              <a:t>WE WILL DIRECT YOU TO VSCODE FOR THE EXECUTION OF THE CODE</a:t>
            </a:r>
            <a:endParaRPr sz="4500" b="1">
              <a:solidFill>
                <a:srgbClr val="351C7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A UNIQUE PROPERTY!!!!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A </a:t>
            </a:r>
            <a:r>
              <a:rPr lang="en" sz="1700" b="1">
                <a:solidFill>
                  <a:schemeClr val="dk1"/>
                </a:solidFill>
              </a:rPr>
              <a:t>unique property</a:t>
            </a:r>
            <a:r>
              <a:rPr lang="en" sz="1700">
                <a:solidFill>
                  <a:schemeClr val="dk1"/>
                </a:solidFill>
              </a:rPr>
              <a:t> of a stack is its </a:t>
            </a:r>
            <a:r>
              <a:rPr lang="en" sz="1700" b="1">
                <a:solidFill>
                  <a:schemeClr val="dk1"/>
                </a:solidFill>
              </a:rPr>
              <a:t>reversibility</a:t>
            </a:r>
            <a:r>
              <a:rPr lang="en" sz="1700">
                <a:solidFill>
                  <a:schemeClr val="dk1"/>
                </a:solidFill>
              </a:rPr>
              <a:t> due to the </a:t>
            </a:r>
            <a:r>
              <a:rPr lang="en" sz="1700" b="1">
                <a:solidFill>
                  <a:schemeClr val="dk1"/>
                </a:solidFill>
              </a:rPr>
              <a:t>Last In, First Out (LIFO)</a:t>
            </a:r>
            <a:r>
              <a:rPr lang="en" sz="1700">
                <a:solidFill>
                  <a:schemeClr val="dk1"/>
                </a:solidFill>
              </a:rPr>
              <a:t> principle. This means that when elements are pushed onto a stack and later popped, their order is naturally reversed without requiring additional memory or complex algorithms.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solidFill>
                  <a:schemeClr val="dk1"/>
                </a:solidFill>
              </a:rPr>
              <a:t>Why is this important?</a:t>
            </a:r>
            <a:endParaRPr sz="1700" b="1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b="1">
                <a:solidFill>
                  <a:schemeClr val="dk1"/>
                </a:solidFill>
              </a:rPr>
              <a:t>Efficient reversal</a:t>
            </a:r>
            <a:r>
              <a:rPr lang="en" sz="1700">
                <a:solidFill>
                  <a:schemeClr val="dk1"/>
                </a:solidFill>
              </a:rPr>
              <a:t>: Stacks are used in reversing strings, numbers, and even linked lists.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b="1">
                <a:solidFill>
                  <a:schemeClr val="dk1"/>
                </a:solidFill>
              </a:rPr>
              <a:t>Function call management</a:t>
            </a:r>
            <a:r>
              <a:rPr lang="en" sz="1700">
                <a:solidFill>
                  <a:schemeClr val="dk1"/>
                </a:solidFill>
              </a:rPr>
              <a:t>: The call stack ensures that the most recent function executes first.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 b="1">
                <a:solidFill>
                  <a:schemeClr val="dk1"/>
                </a:solidFill>
              </a:rPr>
              <a:t>Backtracking</a:t>
            </a:r>
            <a:r>
              <a:rPr lang="en" sz="1700">
                <a:solidFill>
                  <a:schemeClr val="dk1"/>
                </a:solidFill>
              </a:rPr>
              <a:t>: Used in algorithms like maze-solving and undo operations.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000FF"/>
                </a:solidFill>
              </a:rPr>
              <a:t>CONCLUSION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Stacks are a fundamental data structure that follows the </a:t>
            </a:r>
            <a:r>
              <a:rPr lang="en" sz="1900" b="1">
                <a:solidFill>
                  <a:schemeClr val="dk1"/>
                </a:solidFill>
              </a:rPr>
              <a:t>Last In, First Out (LIFO)</a:t>
            </a:r>
            <a:r>
              <a:rPr lang="en" sz="1900">
                <a:solidFill>
                  <a:schemeClr val="dk1"/>
                </a:solidFill>
              </a:rPr>
              <a:t> principle, making them highly efficient for managing data in a structured way. Their ability to </a:t>
            </a:r>
            <a:r>
              <a:rPr lang="en" sz="1900" b="1">
                <a:solidFill>
                  <a:schemeClr val="dk1"/>
                </a:solidFill>
              </a:rPr>
              <a:t>reverse order naturally</a:t>
            </a:r>
            <a:r>
              <a:rPr lang="en" sz="1900">
                <a:solidFill>
                  <a:schemeClr val="dk1"/>
                </a:solidFill>
              </a:rPr>
              <a:t> makes them invaluable in applications like </a:t>
            </a:r>
            <a:r>
              <a:rPr lang="en" sz="1900" b="1">
                <a:solidFill>
                  <a:schemeClr val="dk1"/>
                </a:solidFill>
              </a:rPr>
              <a:t>function calls, undo-redo operations, expression evaluation, and backtracking algorithms</a:t>
            </a:r>
            <a:r>
              <a:rPr lang="en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From </a:t>
            </a:r>
            <a:r>
              <a:rPr lang="en" sz="1900" b="1">
                <a:solidFill>
                  <a:schemeClr val="dk1"/>
                </a:solidFill>
              </a:rPr>
              <a:t>web browsers</a:t>
            </a:r>
            <a:r>
              <a:rPr lang="en" sz="1900">
                <a:solidFill>
                  <a:schemeClr val="dk1"/>
                </a:solidFill>
              </a:rPr>
              <a:t> to </a:t>
            </a:r>
            <a:r>
              <a:rPr lang="en" sz="1900" b="1">
                <a:solidFill>
                  <a:schemeClr val="dk1"/>
                </a:solidFill>
              </a:rPr>
              <a:t>memory management</a:t>
            </a:r>
            <a:r>
              <a:rPr lang="en" sz="1900">
                <a:solidFill>
                  <a:schemeClr val="dk1"/>
                </a:solidFill>
              </a:rPr>
              <a:t>, stacks play a crucial role in various industries, ensuring smooth execution of processes. Their simplicity, combined with powerful applications, makes them an essential concept in programming and system design.</a:t>
            </a: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8" name="Google Shape;12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445025"/>
            <a:ext cx="8438150" cy="41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  <p:sndAc>
          <p:stSnd>
            <p:snd r:embed="rId3" name="applause.wav"/>
          </p:stSnd>
        </p:sndAc>
      </p:transition>
    </mc:Choice>
    <mc:Fallback>
      <p:transition spd="slow">
        <p:fade/>
        <p:sndAc>
          <p:stSnd>
            <p:snd r:embed="rId3" name="applaus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915</Words>
  <Application>Microsoft Office PowerPoint</Application>
  <PresentationFormat>On-screen Show (16:9)</PresentationFormat>
  <Paragraphs>84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Simple Light</vt:lpstr>
      <vt:lpstr>Stack Using Array</vt:lpstr>
      <vt:lpstr>What is Stack?</vt:lpstr>
      <vt:lpstr>Applications of Stack</vt:lpstr>
      <vt:lpstr>What is PUSH Operation?</vt:lpstr>
      <vt:lpstr>Code for push Operation</vt:lpstr>
      <vt:lpstr>What is POP Operation?</vt:lpstr>
      <vt:lpstr>Code for POP operation</vt:lpstr>
      <vt:lpstr>OVERFLOW CONDITION IN STACK</vt:lpstr>
      <vt:lpstr>UNDERFLOW CONDITION IN STACK</vt:lpstr>
      <vt:lpstr>LIVE DEMO</vt:lpstr>
      <vt:lpstr>A UNIQUE PROPERTY!!!!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Satya Sarthak Manohari</dc:creator>
  <cp:lastModifiedBy>Satya Sarthak Manohari</cp:lastModifiedBy>
  <cp:revision>2</cp:revision>
  <dcterms:modified xsi:type="dcterms:W3CDTF">2025-04-29T12:14:25Z</dcterms:modified>
</cp:coreProperties>
</file>